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stuhl/abbund-vorelementierung-montage-dachstuhl/" TargetMode="External"/><Relationship Id="rId3" Type="http://schemas.openxmlformats.org/officeDocument/2006/relationships/hyperlink" Target="https://holzundhaus.github.io/spreedachstuhl/dateien/minimax-4e172aa931dd89cbc82ce8b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Abbund, Vorelementierung und Montage beim Dachstuhl: drei Positionen, die im Angebot getrennt gehören · Erklärende Präsentation</a:t>
            </a:r>
          </a:p>
        </p:txBody>
      </p:sp>
      <p:sp>
        <p:nvSpPr>
          <p:cNvPr id="3" name="Content Placeholder 2"/>
          <p:cNvSpPr>
            <a:spLocks noGrp="1"/>
          </p:cNvSpPr>
          <p:nvPr>
            <p:ph idx="1"/>
          </p:nvPr>
        </p:nvSpPr>
        <p:spPr/>
        <p:txBody>
          <a:bodyPr/>
          <a:lstStyle/>
          <a:p>
            <a:r>
              <a:t>Überblick: Ein Dachstuhl-Angebot wird erst wirklich vergleichbar, wenn klar ist, welche Arbeiten im Werk, in der Vorfertigung und auf der Baustelle enthalten sind. Die Begriffe Abbund, Vorelementierung und Montage beschreiben verschiedene Leistungsstufen, die oft in einer Pauschale verschwinden. Wer sie getrennt prüft, erkennt besser, welcher Umfang verbindlich angeboten wurde und wo Annahmen oder Ergänzungen offen sind. Der folgende Überblick zur [Einordnung von Abbund, Vorelementierung und Montage](https://holzundhaus.github.io/spreedachstuhl/abbund-vorelementierung-montage-dachstuhl/) zeigt, welche Angaben in einem belastbaren Angebot steh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Abbund und Vorelementierung eindeutig abgrenzen</a:t>
            </a:r>
          </a:p>
        </p:txBody>
      </p:sp>
      <p:sp>
        <p:nvSpPr>
          <p:cNvPr id="3" name="Content Placeholder 2"/>
          <p:cNvSpPr>
            <a:spLocks noGrp="1"/>
          </p:cNvSpPr>
          <p:nvPr>
            <p:ph idx="1"/>
          </p:nvPr>
        </p:nvSpPr>
        <p:spPr/>
        <p:txBody>
          <a:bodyPr/>
          <a:lstStyle/>
          <a:p>
            <a:pPr>
              <a:defRPr sz="1800"/>
            </a:pPr>
            <a:r>
              <a:t>Mit dem Abbund werden die Holzbauteile für ihre vorgesehenen Verbindungen vorbereitet. Dazu gehören das Ablängen sowie das Einmessen und Bearbeiten von Zapfen, Versätzen, Ausklinkungen, Bohrungen und Kontaktflächen. Je nach Umfang können auch Schrauben, Nägel oder Nagelplatten dazugehören. Voraussetzung dafür ist eine abgestimmte Tragwerksplanung, die Querschnitte, Auflager und Verbindungen festlegt. Im Angebot sollte deshalb genau stehen, welche Bauteile vorbereitet werden und welche Materialien enthalten sind. Die Vorelementierung geht einen Schritt weiter: Einzelne Teile werden im Werk zu größeren, transportierbaren Einheiten zusammengefüg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Abbund und Vorelementierung eindeutig abgrenzen</a:t>
            </a:r>
          </a:p>
        </p:txBody>
      </p:sp>
      <p:sp>
        <p:nvSpPr>
          <p:cNvPr id="3" name="Content Placeholder 2"/>
          <p:cNvSpPr>
            <a:spLocks noGrp="1"/>
          </p:cNvSpPr>
          <p:nvPr>
            <p:ph idx="1"/>
          </p:nvPr>
        </p:nvSpPr>
        <p:spPr/>
        <p:txBody>
          <a:bodyPr/>
          <a:lstStyle/>
          <a:p>
            <a:pPr>
              <a:defRPr sz="1800"/>
            </a:pPr>
            <a:r>
              <a:t>t, etwa zu Sparren-Pfetten-Knoten, Binder- oder Rahmenelementen oder Wand- und Dachscheiben. Dadurch nimmt die Arbeit auf der Baustelle ab, während der Werkstattaufwand steigt.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Montage nicht pauschal betrachten</a:t>
            </a:r>
          </a:p>
        </p:txBody>
      </p:sp>
      <p:sp>
        <p:nvSpPr>
          <p:cNvPr id="3" name="Content Placeholder 2"/>
          <p:cNvSpPr>
            <a:spLocks noGrp="1"/>
          </p:cNvSpPr>
          <p:nvPr>
            <p:ph idx="1"/>
          </p:nvPr>
        </p:nvSpPr>
        <p:spPr/>
        <p:txBody>
          <a:bodyPr/>
          <a:lstStyle/>
          <a:p>
            <a:pPr>
              <a:defRPr sz="1800"/>
            </a:pPr>
            <a:r>
              <a:t>Zur Montage gehören das Einheben, Ausrichten und Verbinden der Bauteile beziehungsweise der vorgefertigten Elemente. Auch die Übergabe an die folgenden Gewerke, etwa Dachdeckung und Dämmung, gehört in diesen Ablauf. Der Umfang hängt unter anderem von der Geometrie, den Transportwegen, der gewählten Hebetechnik, den Kranzeiten sowie der Zugänglichkeit der Baustelle ab. Wichtig sind deshalb Aussagen zu Kran oder Hebetechnik, Gerüst, Zufahrt, Stellfläche und möglichen Rückbauarbeiten. Witterungsbedingte Verzögerungen lassen sich nicht pauschal beziffern. Wer Montage nur als pauschale Position liest, kann deshalb einen zu niedrigen Vergleichsprei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Montage nicht pauschal betrachten</a:t>
            </a:r>
          </a:p>
        </p:txBody>
      </p:sp>
      <p:sp>
        <p:nvSpPr>
          <p:cNvPr id="3" name="Content Placeholder 2"/>
          <p:cNvSpPr>
            <a:spLocks noGrp="1"/>
          </p:cNvSpPr>
          <p:nvPr>
            <p:ph idx="1"/>
          </p:nvPr>
        </p:nvSpPr>
        <p:spPr/>
        <p:txBody>
          <a:bodyPr/>
          <a:lstStyle/>
          <a:p>
            <a:pPr>
              <a:defRPr sz="1800"/>
            </a:pPr>
            <a:r>
              <a:t>s erhalten, obwohl zusätzliche Leistungen auf der Baustelle später fehlen.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Werkstatt- und Baustellenleistungen getrennt vergleichen</a:t>
            </a:r>
          </a:p>
        </p:txBody>
      </p:sp>
      <p:sp>
        <p:nvSpPr>
          <p:cNvPr id="3" name="Content Placeholder 2"/>
          <p:cNvSpPr>
            <a:spLocks noGrp="1"/>
          </p:cNvSpPr>
          <p:nvPr>
            <p:ph idx="1"/>
          </p:nvPr>
        </p:nvSpPr>
        <p:spPr/>
        <p:txBody>
          <a:bodyPr/>
          <a:lstStyle/>
          <a:p>
            <a:pPr>
              <a:defRPr sz="1800"/>
            </a:pPr>
            <a:r>
              <a:t>Die Trennung der drei Positionen schafft Transparenz über unterschiedliche Kostenbestandteile. Zum Abbund gehören typischerweise Werkstattlohn, Maschinenzeit und vorbereitetes Material. Die Vorelementierung verursacht zusätzlichen Werkstattlohn, kann aber Montagezeit einsparen. Bei der Montage kommen Rüstung, Kran, Gerüst und die Organisation der Baustelle hinzu. Sinnvoll ist deshalb kein reiner Preisvergleich, sondern ein Abgleich identisch dokumentierter Annahmen. Entscheidende Fragen sind: Welche Hölzer und Verbindungen sind im Abbund enthalten? Welche Elemente werden im Werk vormontiert? Sind Verbindungsmittel, Hebetechnik und Gerüst Best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Werkstatt- und Baustellenleistungen getrennt vergleichen</a:t>
            </a:r>
          </a:p>
        </p:txBody>
      </p:sp>
      <p:sp>
        <p:nvSpPr>
          <p:cNvPr id="3" name="Content Placeholder 2"/>
          <p:cNvSpPr>
            <a:spLocks noGrp="1"/>
          </p:cNvSpPr>
          <p:nvPr>
            <p:ph idx="1"/>
          </p:nvPr>
        </p:nvSpPr>
        <p:spPr/>
        <p:txBody>
          <a:bodyPr/>
          <a:lstStyle/>
          <a:p>
            <a:pPr>
              <a:defRPr sz="1800"/>
            </a:pPr>
            <a:r>
              <a:t>andteil der Montage? Welche Arbeiten sind ausdrücklich nicht enthalten? So lässt sich erkennen, ob zwei Angebote denselben Leistungsumfang vergleichen oder ob unterschiedliche Voraussetzungen in den Preisen stecken.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und Annahmen nachvollziehbar dokumentieren</a:t>
            </a:r>
          </a:p>
        </p:txBody>
      </p:sp>
      <p:sp>
        <p:nvSpPr>
          <p:cNvPr id="3" name="Content Placeholder 2"/>
          <p:cNvSpPr>
            <a:spLocks noGrp="1"/>
          </p:cNvSpPr>
          <p:nvPr>
            <p:ph idx="1"/>
          </p:nvPr>
        </p:nvSpPr>
        <p:spPr/>
        <p:txBody>
          <a:bodyPr/>
          <a:lstStyle/>
          <a:p>
            <a:pPr>
              <a:defRPr sz="1800"/>
            </a:pPr>
            <a:r>
              <a:t>Ein gutes Angebot beschreibt nicht nur die Leistungen, sondern auch deren technische Grundlage. Dazu gehören die Art der Dachkonstruktion, der Bezug zur Tragwerksplanung sowie Angaben zu Bauteillisten, Querschnitten und Holzmengen. Für den Abbund sollte festgehalten werden, welche Verbindungen und Verbindungsmittel vorbereitet werden. Für die Vorelementierung sind die vorgesehenen Elemente und ihre Reihenfolge zu benennen. Annahmen über den vorhandenen Bestand, die Auflager und die Bedingungen auf der Baustelle müssen ebenfalls sichtbar sein. Noch ungeklärte Punkte gehören als offene Position ins Angebot und nicht als pauschale Zahl. Dadurch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und Annahmen nachvollziehbar dokumentieren</a:t>
            </a:r>
          </a:p>
        </p:txBody>
      </p:sp>
      <p:sp>
        <p:nvSpPr>
          <p:cNvPr id="3" name="Content Placeholder 2"/>
          <p:cNvSpPr>
            <a:spLocks noGrp="1"/>
          </p:cNvSpPr>
          <p:nvPr>
            <p:ph idx="1"/>
          </p:nvPr>
        </p:nvSpPr>
        <p:spPr/>
        <p:txBody>
          <a:bodyPr/>
          <a:lstStyle/>
          <a:p>
            <a:pPr>
              <a:defRPr sz="1800"/>
            </a:pPr>
            <a:r>
              <a:t>bleibt das Angebot später anhand derselben Grundlage prüfbar und kann bei abweichenden Voraussetzungen gezielt angepasst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vor der Auftragserteilung klären</a:t>
            </a:r>
          </a:p>
        </p:txBody>
      </p:sp>
      <p:sp>
        <p:nvSpPr>
          <p:cNvPr id="3" name="Content Placeholder 2"/>
          <p:cNvSpPr>
            <a:spLocks noGrp="1"/>
          </p:cNvSpPr>
          <p:nvPr>
            <p:ph idx="1"/>
          </p:nvPr>
        </p:nvSpPr>
        <p:spPr/>
        <p:txBody>
          <a:bodyPr/>
          <a:lstStyle/>
          <a:p>
            <a:pPr>
              <a:defRPr sz="1800"/>
            </a:pPr>
            <a:r>
              <a:t>Vor der Beauftragung empfiehlt sich ein kurzes, strukturiertes Gespräch mit dem Holzbaubetrieb. Zu klären ist, welche Tragwerksplanung dem Angebot zugrunde liegt, welche Bauteile im Abbund vorbereitet und in welcher Toleranz ausgeführt werden. Ebenso wichtig sind Angaben dazu, welche Elemente im Werk vormontiert werden, welcher Kran oder welche Hebetechnik vorgesehen ist und welche Annahmen zu Bestand, Zufahrt und Baustelle einkalkuliert wurden. Auch Ausschlüsse sollten ausdrücklich benannt werden. Wer diese Punkte vorab klärt, reduziert Rückfragen während der Montage und schafft eine nachvollziehbare Grundlage für den Vergleich. Weitere Orie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vor der Auftragserteilung klären</a:t>
            </a:r>
          </a:p>
        </p:txBody>
      </p:sp>
      <p:sp>
        <p:nvSpPr>
          <p:cNvPr id="3" name="Content Placeholder 2"/>
          <p:cNvSpPr>
            <a:spLocks noGrp="1"/>
          </p:cNvSpPr>
          <p:nvPr>
            <p:ph idx="1"/>
          </p:nvPr>
        </p:nvSpPr>
        <p:spPr/>
        <p:txBody>
          <a:bodyPr/>
          <a:lstStyle/>
          <a:p>
            <a:pPr>
              <a:defRPr sz="1800"/>
            </a:pPr>
            <a:r>
              <a:t>ntierung bietet der Beitrag zum [ Ablauf eines Dachstuhls auf der Baustelle](https://holzundhaus.github.io/spreedachstuhl/abbund-vorelementierung-montage-dachstuhl/) – vom Zuschnitt bis zur geschlossenen Dachhaut.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Abbund, Vorelementierung und Montage beim Dachstuhl: drei Positionen, die im Angebot getrennt gehören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