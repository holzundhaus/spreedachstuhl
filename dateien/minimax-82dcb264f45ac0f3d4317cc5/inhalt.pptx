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dachstuhl.blogspot.com/2026/10/dachstuhl-und-jahreszeit-in-berlin.html" TargetMode="External"/><Relationship Id="rId3" Type="http://schemas.openxmlformats.org/officeDocument/2006/relationships/hyperlink" Target="https://holzundhaus.github.io/spreedachstuhl/dateien/minimax-82dcb264f45ac0f3d4317cc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und Jahreszeit in Berlin: Witterung, Montagefenster und Bauablauf · Erklärende Präsentation</a:t>
            </a:r>
          </a:p>
        </p:txBody>
      </p:sp>
      <p:sp>
        <p:nvSpPr>
          <p:cNvPr id="3" name="Content Placeholder 2"/>
          <p:cNvSpPr>
            <a:spLocks noGrp="1"/>
          </p:cNvSpPr>
          <p:nvPr>
            <p:ph idx="1"/>
          </p:nvPr>
        </p:nvSpPr>
        <p:spPr/>
        <p:txBody>
          <a:bodyPr/>
          <a:lstStyle/>
          <a:p>
            <a:r>
              <a:t>Überblick: Bei einem Dachstuhl in Berlin ist die Jahreszeit eine praktische Planungsfrage, nicht nur eine Angelegenheit des Kalenders. Niederschläge, Frost, Temperaturwechsel und gelegentliche Sturm- oder Schneeperioden beeinflussen, ob ein Tragwerk aufgerichtet, ausgerichtet und anschließend zuverlässig geschützt werden kann. Der folgende Überblick ordnet die witterungsabhängigen Arbeitsschritte, die Risiken einer längeren Offenzeit sowie die Angaben, die in einer Projektanfrage sinnvoll sind. Er ersetzt keine projektbezogene Prüfung durch Fachplanende oder ausführende Betriebe.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Feuchte und Temperatur den Bauablauf bestimmen</a:t>
            </a:r>
          </a:p>
        </p:txBody>
      </p:sp>
      <p:sp>
        <p:nvSpPr>
          <p:cNvPr id="3" name="Content Placeholder 2"/>
          <p:cNvSpPr>
            <a:spLocks noGrp="1"/>
          </p:cNvSpPr>
          <p:nvPr>
            <p:ph idx="1"/>
          </p:nvPr>
        </p:nvSpPr>
        <p:spPr/>
        <p:txBody>
          <a:bodyPr/>
          <a:lstStyle/>
          <a:p>
            <a:pPr>
              <a:defRPr sz="1800"/>
            </a:pPr>
            <a:r>
              <a:t>Holzdachstühle reagieren auf Feuchte und Temperatur. Bauholz wird mit einer definierten Holzfeuchte eingebaut und kann sich verziehen, wenn es längere Zeit ungeschützt im Regen steht. Das betrifft nicht nur die sichtbaren Sparren und Pfetten, sondern auch Auflager und Verbindungen. Während der Montage erschweren Sturm, Schnee oder Eis die Hebevorgänge, das Ausrichten der Bauteile und das Sichern der Anschlüsse. In Berlin sind Niederschläge über das Jahr verteilt, während trockene Phasen im Hochsommer und häufigere Nässe im Spätherbst sowie im Winter die verfügbare Montagezeit verändern. Deshalb sollte nicht nur ein Wunschtermin, sondern auch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Feuchte und Temperatur den Bauablauf bestimmen</a:t>
            </a:r>
          </a:p>
        </p:txBody>
      </p:sp>
      <p:sp>
        <p:nvSpPr>
          <p:cNvPr id="3" name="Content Placeholder 2"/>
          <p:cNvSpPr>
            <a:spLocks noGrp="1"/>
          </p:cNvSpPr>
          <p:nvPr>
            <p:ph idx="1"/>
          </p:nvPr>
        </p:nvSpPr>
        <p:spPr/>
        <p:txBody>
          <a:bodyPr/>
          <a:lstStyle/>
          <a:p>
            <a:pPr>
              <a:defRPr sz="1800"/>
            </a:pPr>
            <a:r>
              <a:t>ein realistisches Zeitfenster mit wetterbedingten Grenzen eingeplant werden. Der Bezug zum Ablauf wird im Beitrag Dachstuhl und Jahreszeit in Berlin deutlich.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offene Dach als kritische Phase</a:t>
            </a:r>
          </a:p>
        </p:txBody>
      </p:sp>
      <p:sp>
        <p:nvSpPr>
          <p:cNvPr id="3" name="Content Placeholder 2"/>
          <p:cNvSpPr>
            <a:spLocks noGrp="1"/>
          </p:cNvSpPr>
          <p:nvPr>
            <p:ph idx="1"/>
          </p:nvPr>
        </p:nvSpPr>
        <p:spPr/>
        <p:txBody>
          <a:bodyPr/>
          <a:lstStyle/>
          <a:p>
            <a:pPr>
              <a:defRPr sz="1800"/>
            </a:pPr>
            <a:r>
              <a:t>Zwischen dem Aufrichten des Holzdachstuhls und dem Schließen der Dachfläche liegt eine Phase, in der die Konstruktion frei liegt. In dieser Zeit ist der Feuchtigkeitsschutz die zentrale Aufgabe. Regenwasser kann über Sparren und Pfetten seitlich in Auflager oder Verbindungen ziehen. Schnee und Tauwasser durchfeuchten das Tragwerk zusätzlich. Besonders im Übergang von Frühjahr zu Herbst kann sich Tauwasser auf kaltem Holz bilden. Hinzu kommt das Risiko, dass sich die Offenzeit durch Verzögerungen beim Nachfolgegewerk verlängert. Wichtig ist deshalb bereits in der Vorplanung festzulegen, wie schnell Unterspannbahn, Lattung und eine erste Eindec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offene Dach als kritische Phase</a:t>
            </a:r>
          </a:p>
        </p:txBody>
      </p:sp>
      <p:sp>
        <p:nvSpPr>
          <p:cNvPr id="3" name="Content Placeholder 2"/>
          <p:cNvSpPr>
            <a:spLocks noGrp="1"/>
          </p:cNvSpPr>
          <p:nvPr>
            <p:ph idx="1"/>
          </p:nvPr>
        </p:nvSpPr>
        <p:spPr/>
        <p:txBody>
          <a:bodyPr/>
          <a:lstStyle/>
          <a:p>
            <a:pPr>
              <a:defRPr sz="1800"/>
            </a:pPr>
            <a:r>
              <a:t>kung folgen sollen und welche Schutzmaßnahmen für die Zwischenzeit vorgesehen sind. Die Empfindlichkeit hängt dabei von der Konstruktionsart 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Arbeiten witterungsunabhängig vorbereitet werden können</a:t>
            </a:r>
          </a:p>
        </p:txBody>
      </p:sp>
      <p:sp>
        <p:nvSpPr>
          <p:cNvPr id="3" name="Content Placeholder 2"/>
          <p:cNvSpPr>
            <a:spLocks noGrp="1"/>
          </p:cNvSpPr>
          <p:nvPr>
            <p:ph idx="1"/>
          </p:nvPr>
        </p:nvSpPr>
        <p:spPr/>
        <p:txBody>
          <a:bodyPr/>
          <a:lstStyle/>
          <a:p>
            <a:pPr>
              <a:defRPr sz="1800"/>
            </a:pPr>
            <a:r>
              <a:t>Planung, Abbund und Vorelementierung finden in der Werkstatt statt und sind weitgehend wetterunabhängig. Diese Schritte können abgeschlossen werden, bevor die Witterung den Montageablauf bestimmt. Dazu gehören die Vorbereitung der Holzbauteile und die Festlegung ihrer Verbindung. Der Ratgeber Abbund, Vorelementierung und Montage erläutert die einzelnen Begriffe und ordnet sie in den Ablauf ein. Wer die Arbeiten frühzeitig vorbereitet, gewinnt Flexibilität für das eigentliche Aufrichten. Zu einer vollständigen Anfrage gehören außerdem Angaben zur gewünschten Konstruktion, zur Zugänglichkeit der Baustelle, zur erforderlichen Hebetechnik und daz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Arbeiten witterungsunabhängig vorbereitet werden können</a:t>
            </a:r>
          </a:p>
        </p:txBody>
      </p:sp>
      <p:sp>
        <p:nvSpPr>
          <p:cNvPr id="3" name="Content Placeholder 2"/>
          <p:cNvSpPr>
            <a:spLocks noGrp="1"/>
          </p:cNvSpPr>
          <p:nvPr>
            <p:ph idx="1"/>
          </p:nvPr>
        </p:nvSpPr>
        <p:spPr/>
        <p:txBody>
          <a:bodyPr/>
          <a:lstStyle/>
          <a:p>
            <a:pPr>
              <a:defRPr sz="1800"/>
            </a:pPr>
            <a:r>
              <a:t>u, welche Unterlagen bereits vorliegen.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Montage zur geschlossenen Dachfläche</a:t>
            </a:r>
          </a:p>
        </p:txBody>
      </p:sp>
      <p:sp>
        <p:nvSpPr>
          <p:cNvPr id="3" name="Content Placeholder 2"/>
          <p:cNvSpPr>
            <a:spLocks noGrp="1"/>
          </p:cNvSpPr>
          <p:nvPr>
            <p:ph idx="1"/>
          </p:nvPr>
        </p:nvSpPr>
        <p:spPr/>
        <p:txBody>
          <a:bodyPr/>
          <a:lstStyle/>
          <a:p>
            <a:pPr>
              <a:defRPr sz="1800"/>
            </a:pPr>
            <a:r>
              <a:t>Für die Montage sind trockene Bedingungen ohne Sturm und Schnee deutlich günstiger. Nach dem Aufrichten des Tragwerks sollte zügig die weitere Hülle folgen. Dazu gehören die Unterspannbahn, die Lattung und eine erste Eindeckung; erst danach ist der Dachstuhl nicht mehr offen. Diese Reihenfolge ist kein Ersatz für die Ausführungsplanung, sondern ein Planungsrahmen für den Feuchtigkeitsschutz. Gerade wenn Bauzeiten in die kalte Jahreszeit fallen, muss der Ablauf zwischen Aufrichten, Sichern und Schließen abgestimmt werden. Die Schnittstellen zur späteren Dachdämmung sollten bereits bei der Vorbereitung berücksichtigt werden, damit Nachfolgegewe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Montage zur geschlossenen Dachfläche</a:t>
            </a:r>
          </a:p>
        </p:txBody>
      </p:sp>
      <p:sp>
        <p:nvSpPr>
          <p:cNvPr id="3" name="Content Placeholder 2"/>
          <p:cNvSpPr>
            <a:spLocks noGrp="1"/>
          </p:cNvSpPr>
          <p:nvPr>
            <p:ph idx="1"/>
          </p:nvPr>
        </p:nvSpPr>
        <p:spPr/>
        <p:txBody>
          <a:bodyPr/>
          <a:lstStyle/>
          <a:p>
            <a:pPr>
              <a:defRPr sz="1800"/>
            </a:pPr>
            <a:r>
              <a:t>rke nicht erst nach längerer Wartezeit beginnen.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Logistik, Projektanfrage und Genehmigungsfrage</a:t>
            </a:r>
          </a:p>
        </p:txBody>
      </p:sp>
      <p:sp>
        <p:nvSpPr>
          <p:cNvPr id="3" name="Content Placeholder 2"/>
          <p:cNvSpPr>
            <a:spLocks noGrp="1"/>
          </p:cNvSpPr>
          <p:nvPr>
            <p:ph idx="1"/>
          </p:nvPr>
        </p:nvSpPr>
        <p:spPr/>
        <p:txBody>
          <a:bodyPr/>
          <a:lstStyle/>
          <a:p>
            <a:pPr>
              <a:defRPr sz="1800"/>
            </a:pPr>
            <a:r>
              <a:t>Auch die Baustellenlogistik hängt von Jahreszeit und Wetter ab. Tiefer Frost kann den Zugang für schwere Fahrzeuge einschränken. Aufgeweichter Boden im Frühjahr kann die Stellfläche für Kran und Materiallager beeinträchtigen. Laub und Nässe im Herbst erschweren das Sichern von Bauteilen. Eine nachvollziehbare Anfrage beschreibt deshalb nicht nur das Bauvorhaben, sondern auch den gewünschten Zeitraum, mögliche Witterungsgrenzen, Zufahrt, Hebetechnik und offene Unterlagen. So kann der Betrieb den tatsächlichen Aufwand einschätzen. Ob im Einzelfall eine Genehmigungsfreistellung möglich ist, muss projektbezogen geprüft werden; dafür sind die eins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Logistik, Projektanfrage und Genehmigungsfrage</a:t>
            </a:r>
          </a:p>
        </p:txBody>
      </p:sp>
      <p:sp>
        <p:nvSpPr>
          <p:cNvPr id="3" name="Content Placeholder 2"/>
          <p:cNvSpPr>
            <a:spLocks noGrp="1"/>
          </p:cNvSpPr>
          <p:nvPr>
            <p:ph idx="1"/>
          </p:nvPr>
        </p:nvSpPr>
        <p:spPr/>
        <p:txBody>
          <a:bodyPr/>
          <a:lstStyle/>
          <a:p>
            <a:pPr>
              <a:defRPr sz="1800"/>
            </a:pPr>
            <a:r>
              <a:t>chlägigen Berliner Informationen maßgeblich.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und Jahreszeit in Berlin: Witterung, Montagefenster und Bauablauf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