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gitlab.com/info4678/spreedachstuhl/-/blob/bf133eedb18ccacd45695c815393efe08a888f86/_posts/2026-10-25-dachstuhl-reparatur-verstaerkung-erneuerung-entscheidungskriterien.md" TargetMode="External"/><Relationship Id="rId3" Type="http://schemas.openxmlformats.org/officeDocument/2006/relationships/hyperlink" Target="https://holzundhaus.github.io/spreedachstuhl/dateien/minimax-a0ce5df3a9a2a66335adf2f9/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Dachstuhl: Reparatur, Verstärkung oder Erneuerung – die richtige Entscheidung treffen · Erklärende Präsentation</a:t>
            </a:r>
          </a:p>
        </p:txBody>
      </p:sp>
      <p:sp>
        <p:nvSpPr>
          <p:cNvPr id="3" name="Content Placeholder 2"/>
          <p:cNvSpPr>
            <a:spLocks noGrp="1"/>
          </p:cNvSpPr>
          <p:nvPr>
            <p:ph idx="1"/>
          </p:nvPr>
        </p:nvSpPr>
        <p:spPr/>
        <p:txBody>
          <a:bodyPr/>
          <a:lstStyle/>
          <a:p>
            <a:r>
              <a:t>Überblick: Die Entscheidung zwischen Reparatur, Verstärkung und Erneuerung eines bestehenden Dachstuhls sollte nicht allein anhand des Baualters getroffen werden. Entscheidend sind der tatsächliche Zustand der Konstruktion, die Ursache der Schädigung sowie die künftigen Anforderungen an das Gebäude. Dieser Leitfaden strukturiert die wichtigsten Prüfschritte und hilft dabei, vor der Angebotsphase die passende Handlungsrichtung zu bestimmen.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Warum jeder Dachstuhl eine eigene Bewertung braucht</a:t>
            </a:r>
          </a:p>
        </p:txBody>
      </p:sp>
      <p:sp>
        <p:nvSpPr>
          <p:cNvPr id="3" name="Content Placeholder 2"/>
          <p:cNvSpPr>
            <a:spLocks noGrp="1"/>
          </p:cNvSpPr>
          <p:nvPr>
            <p:ph idx="1"/>
          </p:nvPr>
        </p:nvSpPr>
        <p:spPr/>
        <p:txBody>
          <a:bodyPr/>
          <a:lstStyle/>
          <a:p>
            <a:pPr>
              <a:defRPr sz="1800"/>
            </a:pPr>
            <a:r>
              <a:t>Zwei gleich alte Dachstühle können unterschiedliche Entscheidungen erfordern, weil ihre Beanspruchung und ihr innerer Zustand nicht übereinstimmen. Für die Beurteilung zählen unter anderem die vorhandenen Schäden, die spätere Nutzung und die geplanten baulichen Veränderungen. Eine allgemeine Prozentzahl oder ein fester Zeitraum ersetzt keine fachliche Bestandsaufnahme. Besonders wichtig ist, dass auch Bauteile erfasst werden, die von außen nicht ohne Weiteres sichtbar sind. Ein einzelnes Foto oder eine Sichtprüfung der offenen Flächen reicht deshalb nicht aus, um den Umfang einer Maßnahme zuverlässig einzuschätzen.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Reparatur bei örtlich begrenzten Schäden</a:t>
            </a:r>
          </a:p>
        </p:txBody>
      </p:sp>
      <p:sp>
        <p:nvSpPr>
          <p:cNvPr id="3" name="Content Placeholder 2"/>
          <p:cNvSpPr>
            <a:spLocks noGrp="1"/>
          </p:cNvSpPr>
          <p:nvPr>
            <p:ph idx="1"/>
          </p:nvPr>
        </p:nvSpPr>
        <p:spPr/>
        <p:txBody>
          <a:bodyPr/>
          <a:lstStyle/>
          <a:p>
            <a:pPr>
              <a:defRPr sz="1800"/>
            </a:pPr>
            <a:r>
              <a:t>Eine Reparatur ist vor allem dann geeignet, wenn der Schaden an einer einzelnen Stelle auftritt und der übrige Dachstuhl intakt ist. Beispiele können mechanisch beschädigte Teile oder ein fehlerhaft ausgeführter Anschluss sein. Voraussetzung ist, dass die Ursache eindeutig geklärt und beseitigt werden kann. Zudem muss ausgeschlossen sein, dass weitere, verdeckte Schwächungen vorhanden sind. Die Bestandsaufnahme sollte daher nicht nur den sichtbaren Schaden betrachten, sondern auch die angrenzenden Bauteile und Anschlüsse einbeziehen. Erst wenn der betroffene Bereich klar abgrenzbar ist und die restliche Konstruktion ihre erforderliche Leistun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Reparatur bei örtlich begrenzten Schäden</a:t>
            </a:r>
          </a:p>
        </p:txBody>
      </p:sp>
      <p:sp>
        <p:nvSpPr>
          <p:cNvPr id="3" name="Content Placeholder 2"/>
          <p:cNvSpPr>
            <a:spLocks noGrp="1"/>
          </p:cNvSpPr>
          <p:nvPr>
            <p:ph idx="1"/>
          </p:nvPr>
        </p:nvSpPr>
        <p:spPr/>
        <p:txBody>
          <a:bodyPr/>
          <a:lstStyle/>
          <a:p>
            <a:pPr>
              <a:defRPr sz="1800"/>
            </a:pPr>
            <a:r>
              <a:t>g erbringt, lässt sich die Reparatur sinnvoll von einer umfangreicheren Maßnahme abgrenzen.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Verstärkung, wenn die Grundform weiter genutzt werden kann</a:t>
            </a:r>
          </a:p>
        </p:txBody>
      </p:sp>
      <p:sp>
        <p:nvSpPr>
          <p:cNvPr id="3" name="Content Placeholder 2"/>
          <p:cNvSpPr>
            <a:spLocks noGrp="1"/>
          </p:cNvSpPr>
          <p:nvPr>
            <p:ph idx="1"/>
          </p:nvPr>
        </p:nvSpPr>
        <p:spPr/>
        <p:txBody>
          <a:bodyPr/>
          <a:lstStyle/>
          <a:p>
            <a:pPr>
              <a:defRPr sz="1800"/>
            </a:pPr>
            <a:r>
              <a:t>Eine Verstärkung wird relevant, wenn die bestehende Konstruktion grundsätzlich erhalten bleiben soll, für die geplante Beanspruchung aber nicht ausreicht. Das kann beispielsweise bei einer Nutzungsänderung im Dachgeschoss oder bei veränderten Lasten durch eine neue Dacheindeckung der Fall sein. Entscheidend ist, wie viele Bauteile angepasst werden müssen und wie aufwendig die Anbindung an das bestehende Tragwerk wird. Je weniger in die Grundkonstruktion eingegriffen werden muss, desto eher kann die Verstärkung gegenüber einer Erneuerung infrage kommen. Dabei geht es nicht nur um den reinen Aufwand, sondern auch darum, ob die beabsichtigte Nut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Verstärkung, wenn die Grundform weiter genutzt werden kann</a:t>
            </a:r>
          </a:p>
        </p:txBody>
      </p:sp>
      <p:sp>
        <p:nvSpPr>
          <p:cNvPr id="3" name="Content Placeholder 2"/>
          <p:cNvSpPr>
            <a:spLocks noGrp="1"/>
          </p:cNvSpPr>
          <p:nvPr>
            <p:ph idx="1"/>
          </p:nvPr>
        </p:nvSpPr>
        <p:spPr/>
        <p:txBody>
          <a:bodyPr/>
          <a:lstStyle/>
          <a:p>
            <a:pPr>
              <a:defRPr sz="1800"/>
            </a:pPr>
            <a:r>
              <a:t>zung mit dem vorhandenen Tragwerk zuverlässig vereinbar bleibt.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Erneuerung bei grundlegenden Eingriffen</a:t>
            </a:r>
          </a:p>
        </p:txBody>
      </p:sp>
      <p:sp>
        <p:nvSpPr>
          <p:cNvPr id="3" name="Content Placeholder 2"/>
          <p:cNvSpPr>
            <a:spLocks noGrp="1"/>
          </p:cNvSpPr>
          <p:nvPr>
            <p:ph idx="1"/>
          </p:nvPr>
        </p:nvSpPr>
        <p:spPr/>
        <p:txBody>
          <a:bodyPr/>
          <a:lstStyle/>
          <a:p>
            <a:pPr>
              <a:defRPr sz="1800"/>
            </a:pPr>
            <a:r>
              <a:t>Eine Erneuerung wird erforderlich, wenn das bestehende Tragwerk nicht mehr tragfähig ertüchtigt werden kann oder die geplanten Veränderungen ein vollständig neues Tragwerkskonzept benötigen. Das kann bei großflächigem Pilzbefall mit geschwächten tragenden Hölzern oder bei grundlegenden Änderungen an der Gebäudestruktur der Fall sein. In solchen Situationen reicht eine punktelle Verstärkung nicht aus, weil die zukünftigen Anforderungen den Erhalt des bisherigen Konzepts infrage stellen. Auch die zeitgemäße Anpassung an die aktuelle Normenlage kann im Rahmen einer Erneuerung relevant werden. Die Entscheidung sollte deshalb auf Basis des gesamte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Erneuerung bei grundlegenden Eingriffen</a:t>
            </a:r>
          </a:p>
        </p:txBody>
      </p:sp>
      <p:sp>
        <p:nvSpPr>
          <p:cNvPr id="3" name="Content Placeholder 2"/>
          <p:cNvSpPr>
            <a:spLocks noGrp="1"/>
          </p:cNvSpPr>
          <p:nvPr>
            <p:ph idx="1"/>
          </p:nvPr>
        </p:nvSpPr>
        <p:spPr/>
        <p:txBody>
          <a:bodyPr/>
          <a:lstStyle/>
          <a:p>
            <a:pPr>
              <a:defRPr sz="1800"/>
            </a:pPr>
            <a:r>
              <a:t>n Tragwerks getroffen werden, nicht nur auf Basis einzelner auffälliger Bauteile.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Erst prüfen, dann wirtschaftlich vergleichen</a:t>
            </a:r>
          </a:p>
        </p:txBody>
      </p:sp>
      <p:sp>
        <p:nvSpPr>
          <p:cNvPr id="3" name="Content Placeholder 2"/>
          <p:cNvSpPr>
            <a:spLocks noGrp="1"/>
          </p:cNvSpPr>
          <p:nvPr>
            <p:ph idx="1"/>
          </p:nvPr>
        </p:nvSpPr>
        <p:spPr/>
        <p:txBody>
          <a:bodyPr/>
          <a:lstStyle/>
          <a:p>
            <a:pPr>
              <a:defRPr sz="1800"/>
            </a:pPr>
            <a:r>
              <a:t>Die Wirtschaftlichkeit lässt sich erst sinnvoll beurteilen, wenn der Zustand des Dachstuhls fachlich bewertet ist. Ohne geklärten Befund bleiben Umfang, Geeignetheit und Kostenfolgen der einzelnen Optionen unsicher. Empfehlenswert ist deshalb, zunächst die Bestandsaufnahme abzuschließen und anschließend Reparatur, Verstärkung und Erneuerung anhand desselben Bewertungsrahmens zu vergleichen. Berücksichtigt werden sollten dabei die Schadensursache, die betroffenen Bauteile, die geplante Nutzung und die baulichen Rahmenbedingungen. Auf dieser Grundlage kann eine Fachplanung die am ehesten geeignete Richtung begründen und eine nachvollziehbare En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Erst prüfen, dann wirtschaftlich vergleichen</a:t>
            </a:r>
          </a:p>
        </p:txBody>
      </p:sp>
      <p:sp>
        <p:nvSpPr>
          <p:cNvPr id="3" name="Content Placeholder 2"/>
          <p:cNvSpPr>
            <a:spLocks noGrp="1"/>
          </p:cNvSpPr>
          <p:nvPr>
            <p:ph idx="1"/>
          </p:nvPr>
        </p:nvSpPr>
        <p:spPr/>
        <p:txBody>
          <a:bodyPr/>
          <a:lstStyle/>
          <a:p>
            <a:pPr>
              <a:defRPr sz="1800"/>
            </a:pPr>
            <a:r>
              <a:t>tscheidung vorbereiten.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Dachstuhl: Reparatur, Verstärkung oder Erneuerung – die richtige Entscheidung treffen</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